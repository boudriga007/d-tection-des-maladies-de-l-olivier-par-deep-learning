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760" y="100584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🫒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737360" y="777240"/>
            <a:ext cx="7040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Détection des Maladies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737360" y="1554480"/>
            <a:ext cx="7040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de l'Olivier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737360" y="224028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par Deep Learning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737360" y="2880360"/>
            <a:ext cx="5029200" cy="36576"/>
          </a:xfrm>
          <a:prstGeom prst="rect">
            <a:avLst/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737360" y="306324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Encadrant 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M. Abdallah Khemais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737360" y="347472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 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Learning  |  Année : 2024–2025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737360" y="4069080"/>
            <a:ext cx="3200400" cy="457200"/>
          </a:xfrm>
          <a:prstGeom prst="roundRect">
            <a:avLst>
              <a:gd fmla="val 16000" name="adj"/>
            </a:avLst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737360" y="40690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: Zeytin_224×224 — 6 961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📌  Problème &amp; Dataset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74320" y="1325880"/>
            <a:ext cx="40233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 Tunisie est le 2e exportateur mondial d'huile d'olive.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Les maladies foliaires détruisent jusqu'à 40% des récoltes si non détectées à temps.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Objectif : diagnostiquer automatiquement la maladie depuis une simple photo de feuille.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Les 3 classes du 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754880" y="141732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846320" y="141732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✅  Saglikli (Healthy) — Feuille saine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754880" y="210312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AECE7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46320" y="210312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🔴  Pas_Akari — Acarien (Aculus Olearius)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754880" y="278892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EF3E4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846320" y="278892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🟠  Kus_Gozu_Mantari — Œil de paon (Peacock Spot)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74320" y="3474720"/>
            <a:ext cx="1920240" cy="1280160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274320" y="354787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6 961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4320" y="418795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totales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423160" y="3474720"/>
            <a:ext cx="1920240" cy="1280160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2423160" y="354787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224×224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423160" y="418795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Taille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0" y="3474720"/>
            <a:ext cx="1920240" cy="1280160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572000" y="354787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0" y="418795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720840" y="3474720"/>
            <a:ext cx="1920240" cy="1280160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720840" y="354787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15/15%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720840" y="418795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Val /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 Pipeline Deep Learning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74320" y="914400"/>
            <a:ext cx="2651760" cy="155448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74320" y="914400"/>
            <a:ext cx="2651760" cy="41148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74320" y="9144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65760" y="138988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Images brutes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65760" y="18745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224×224×3 (RGB)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200400" y="914400"/>
            <a:ext cx="2651760" cy="155448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200400" y="914400"/>
            <a:ext cx="2651760" cy="41148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200400" y="9144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291840" y="138988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Data Augmentation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291840" y="18745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flip, rotation, zoom, brightness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126480" y="914400"/>
            <a:ext cx="2651760" cy="155448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126480" y="914400"/>
            <a:ext cx="2651760" cy="41148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126480" y="9144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217920" y="138988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Normalisation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217920" y="18745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[0,255] → [0.0, 1.0]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74320" y="2834640"/>
            <a:ext cx="2651760" cy="155448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16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274320" y="2834640"/>
            <a:ext cx="2651760" cy="411480"/>
          </a:xfrm>
          <a:prstGeom prst="rect">
            <a:avLst/>
          </a:prstGeom>
          <a:solidFill>
            <a:srgbClr val="16A085"/>
          </a:solidFill>
          <a:ln cap="flat" cmpd="sng" w="12700">
            <a:solidFill>
              <a:srgbClr val="16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274320" y="28346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65760" y="331012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tf.data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65760" y="37947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Prefetch GPU + parallélisme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200400" y="2834640"/>
            <a:ext cx="2651760" cy="155448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200400" y="2834640"/>
            <a:ext cx="2651760" cy="411480"/>
          </a:xfrm>
          <a:prstGeom prst="rect">
            <a:avLst/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200400" y="28346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291840" y="331012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EfficientNetB4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291840" y="37947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Transfer Learning 2 phases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126480" y="2834640"/>
            <a:ext cx="2651760" cy="155448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126480" y="2834640"/>
            <a:ext cx="2651760" cy="4114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126480" y="28346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217920" y="331012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Prédiction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217920" y="37947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Saglikli / Pas_Akari / Kus_Gozu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🏗️  Architectures Comparées — Résultats Réels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74320" y="822960"/>
            <a:ext cx="2240280" cy="411480"/>
          </a:xfrm>
          <a:prstGeom prst="rect">
            <a:avLst/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274320" y="82296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Modèle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2560320" y="822960"/>
            <a:ext cx="1417320" cy="411480"/>
          </a:xfrm>
          <a:prstGeom prst="rect">
            <a:avLst/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2560320" y="82296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023360" y="822960"/>
            <a:ext cx="1234440" cy="411480"/>
          </a:xfrm>
          <a:prstGeom prst="rect">
            <a:avLst/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023360" y="82296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303520" y="822960"/>
            <a:ext cx="1325880" cy="411480"/>
          </a:xfrm>
          <a:prstGeom prst="rect">
            <a:avLst/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303520" y="82296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 Macro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675120" y="822960"/>
            <a:ext cx="1965960" cy="411480"/>
          </a:xfrm>
          <a:prstGeom prst="rect">
            <a:avLst/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675120" y="82296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Paramètres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74320" y="1325880"/>
            <a:ext cx="22402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274320" y="13258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CNN 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560320" y="1325880"/>
            <a:ext cx="14173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2560320" y="13258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29.93%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023360" y="1325880"/>
            <a:ext cx="12344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023360" y="132588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1.1094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303520" y="1325880"/>
            <a:ext cx="13258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5303520" y="13258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0.1536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675120" y="1325880"/>
            <a:ext cx="1965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675120" y="13258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323,619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74320" y="1892808"/>
            <a:ext cx="2240280" cy="5029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74320" y="1892808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ResNet50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2560320" y="1892808"/>
            <a:ext cx="1417320" cy="5029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2560320" y="1892808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56.46%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023360" y="1892808"/>
            <a:ext cx="1234440" cy="5029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023360" y="189280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0.9779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303520" y="1892808"/>
            <a:ext cx="1325880" cy="5029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303520" y="1892808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0.4141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675120" y="1892808"/>
            <a:ext cx="1965960" cy="5029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675120" y="1892808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24,705,411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74320" y="2459736"/>
            <a:ext cx="2240280" cy="502920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274320" y="2459736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EfficientNetB4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560320" y="2459736"/>
            <a:ext cx="1417320" cy="502920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2560320" y="2459736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90.48%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023360" y="2459736"/>
            <a:ext cx="1234440" cy="502920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023360" y="2459736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0.2613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303520" y="2459736"/>
            <a:ext cx="1325880" cy="502920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303520" y="2459736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0.8969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675120" y="2459736"/>
            <a:ext cx="1965960" cy="502920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675120" y="2459736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18,660,450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274320" y="3026664"/>
            <a:ext cx="2240280" cy="5029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274320" y="3026664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VGG16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560320" y="3026664"/>
            <a:ext cx="1417320" cy="5029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2560320" y="3026664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92.52%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023360" y="3026664"/>
            <a:ext cx="1234440" cy="5029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023360" y="3026664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0.1943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303520" y="3026664"/>
            <a:ext cx="1325880" cy="5029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5303520" y="3026664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0.9278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675120" y="3026664"/>
            <a:ext cx="1965960" cy="50292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675120" y="3026664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15,045,443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74320" y="3703320"/>
            <a:ext cx="3200400" cy="502920"/>
          </a:xfrm>
          <a:prstGeom prst="roundRect">
            <a:avLst>
              <a:gd fmla="val 14545" name="adj"/>
            </a:avLst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274320" y="37033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 Modèle Final : EfficientNetB4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749040" y="365760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Pourquoi EfficientNetB4 malgré VGG16 légèrement supérieur ?  </a:t>
            </a: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Architecture moderne, compound scaling, meilleur déploiement mobile (TFLite), perspectives d'amélioration avec plus d'epochs.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 Résultats Réels — EfficientNetB4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74320" y="822960"/>
            <a:ext cx="1920240" cy="1371600"/>
          </a:xfrm>
          <a:prstGeom prst="rect">
            <a:avLst/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274320" y="896112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90.48%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74320" y="171907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423160" y="822960"/>
            <a:ext cx="1920240" cy="137160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2423160" y="896112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0.2613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423160" y="171907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Loss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0" y="822960"/>
            <a:ext cx="1920240" cy="137160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572000" y="896112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0.8969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2000" y="171907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F1-Score Macro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720840" y="822960"/>
            <a:ext cx="1920240" cy="13716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6720840" y="896112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0.9044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720840" y="171907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 Weighted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377440"/>
            <a:ext cx="502920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5669280" y="23317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EfficientNetB4 par classe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669280" y="2788920"/>
            <a:ext cx="3200400" cy="566928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760720" y="2807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Kus_Gozu_Mantari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760720" y="30632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P: 91.55%  R: 94.20%  F1: 92.86%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669280" y="3429000"/>
            <a:ext cx="32004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5760720" y="344728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Pas_Akari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760720" y="370332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P: 90.70%  R: 88.64%  F1: 89.66%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669280" y="4069080"/>
            <a:ext cx="3200400" cy="566928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5760720" y="408736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Saglikli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760720" y="434340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P: 87.88%  R: 85.29%  F1: 86.57%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🔥  Grad-CAM — Interprétabilité du Modèle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Qu'est-ce que Grad-CAM 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74320" y="1234440"/>
            <a:ext cx="411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Gradient-weighted Class Activation Mapping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Visualise les zones de la feuille qui ont influencé la décision du modèle.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🔴 Rouge = zone très importante pour le diagnostic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🔵 Bleu = zone peu importante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Formule : heatmap = Σ α_k × A_k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572000" y="914400"/>
            <a:ext cx="1371600" cy="1371600"/>
          </a:xfrm>
          <a:prstGeom prst="rect">
            <a:avLst/>
          </a:prstGeom>
          <a:solidFill>
            <a:srgbClr val="F0F0F0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572000" y="109728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🖼️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0" y="2286000"/>
            <a:ext cx="1371600" cy="45720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572000" y="22860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961888" y="15087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080760" y="914400"/>
            <a:ext cx="1371600" cy="1371600"/>
          </a:xfrm>
          <a:prstGeom prst="rect">
            <a:avLst/>
          </a:prstGeom>
          <a:solidFill>
            <a:srgbClr val="F0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080760" y="109728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🖼️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080760" y="2286000"/>
            <a:ext cx="1371600" cy="4572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6080760" y="22860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Heatmap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Grad-CAM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470648" y="15087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7589520" y="914400"/>
            <a:ext cx="1371600" cy="1371600"/>
          </a:xfrm>
          <a:prstGeom prst="rect">
            <a:avLst/>
          </a:prstGeom>
          <a:solidFill>
            <a:srgbClr val="F0F0F0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7589520" y="109728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🖼️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7589520" y="2286000"/>
            <a:ext cx="1371600" cy="457200"/>
          </a:xfrm>
          <a:prstGeom prst="rect">
            <a:avLst/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7589520" y="22860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Superposition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74320" y="3611880"/>
            <a:ext cx="8595360" cy="822960"/>
          </a:xfrm>
          <a:prstGeom prst="rect">
            <a:avLst/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💡 Importance pour le projet : 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 modèle détecte bien les zones de taches et décolorations caractéristiques des maladies — justifie la fiabilité du diagnostic automatique.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274320" y="4553712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1A"/>
                </a:solidFill>
                <a:latin typeface="Calibri"/>
                <a:ea typeface="Calibri"/>
                <a:cs typeface="Calibri"/>
                <a:sym typeface="Calibri"/>
              </a:rPr>
              <a:t>Concepts DL clés abordés 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BatchNorm • Dropout • Skip Connections (ResNet) • Compound Scaling (EfficientNet) • EarlyStopping • ReduceLROnPlateau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 Déploiement — Application Streamlit (+2 pts Bonus)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65760" y="822960"/>
            <a:ext cx="1920240" cy="1828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365760" y="822960"/>
            <a:ext cx="1920240" cy="36576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65760" y="822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365760" y="12344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📷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5720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Upload photo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 feuille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304288" y="148132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560320" y="822960"/>
            <a:ext cx="1920240" cy="1828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2560320" y="822960"/>
            <a:ext cx="1920240" cy="36576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2560320" y="822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2560320" y="12344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265176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224×224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498848" y="148132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754880" y="822960"/>
            <a:ext cx="1920240" cy="1828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754880" y="822960"/>
            <a:ext cx="1920240" cy="365760"/>
          </a:xfrm>
          <a:prstGeom prst="rect">
            <a:avLst/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754880" y="822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754880" y="12344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84632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Inférence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EfficientNetB4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693408" y="148132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949440" y="822960"/>
            <a:ext cx="1920240" cy="1828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949440" y="822960"/>
            <a:ext cx="1920240" cy="3657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6949440" y="822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Étape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949440" y="12344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040880" y="19202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Résultat 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Grad-CAM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274320" y="2880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Stack technique 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274320" y="3337560"/>
            <a:ext cx="1645920" cy="731520"/>
          </a:xfrm>
          <a:prstGeom prst="roundRect">
            <a:avLst>
              <a:gd fmla="val 7500" name="adj"/>
            </a:avLst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274320" y="336499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74320" y="37033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Interface web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2011680" y="3337560"/>
            <a:ext cx="1645920" cy="731520"/>
          </a:xfrm>
          <a:prstGeom prst="roundRect">
            <a:avLst>
              <a:gd fmla="val 7500" name="adj"/>
            </a:avLst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2011680" y="336499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TFLite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2011680" y="37033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Modèle mobile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3749040" y="3337560"/>
            <a:ext cx="1645920" cy="731520"/>
          </a:xfrm>
          <a:prstGeom prst="roundRect">
            <a:avLst>
              <a:gd fmla="val 7500" name="adj"/>
            </a:avLst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3749040" y="336499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OpenCV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3749040" y="37033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Traitement 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86400" y="3337560"/>
            <a:ext cx="1645920" cy="731520"/>
          </a:xfrm>
          <a:prstGeom prst="roundRect">
            <a:avLst>
              <a:gd fmla="val 7500" name="adj"/>
            </a:avLst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5486400" y="336499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Grad-CAM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486400" y="37033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Interprétabilité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7223760" y="3337560"/>
            <a:ext cx="1645920" cy="731520"/>
          </a:xfrm>
          <a:prstGeom prst="roundRect">
            <a:avLst>
              <a:gd fmla="val 7500" name="adj"/>
            </a:avLst>
          </a:prstGeom>
          <a:solidFill>
            <a:srgbClr val="EAF3DE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7223760" y="336499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A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7A2D"/>
                </a:solidFill>
                <a:latin typeface="Calibri"/>
                <a:ea typeface="Calibri"/>
                <a:cs typeface="Calibri"/>
                <a:sym typeface="Calibri"/>
              </a:rPr>
              <a:t>Streamlit Cloud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7223760" y="37033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Déploiement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539830" y="4224527"/>
            <a:ext cx="2286000" cy="777300"/>
          </a:xfrm>
          <a:prstGeom prst="roundRect">
            <a:avLst>
              <a:gd fmla="val 9412" name="adj"/>
            </a:avLst>
          </a:prstGeom>
          <a:solidFill>
            <a:srgbClr val="FFF3CD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6492255" y="4224527"/>
            <a:ext cx="2286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9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6914"/>
                </a:solidFill>
                <a:latin typeface="Calibri"/>
                <a:ea typeface="Calibri"/>
                <a:cs typeface="Calibri"/>
                <a:sym typeface="Calibri"/>
              </a:rPr>
              <a:t>⭐ Bonus +2 pts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9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6914"/>
                </a:solidFill>
                <a:latin typeface="Calibri"/>
                <a:ea typeface="Calibri"/>
                <a:cs typeface="Calibri"/>
                <a:sym typeface="Calibri"/>
              </a:rPr>
              <a:t>Déployé en ligne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274320" y="4224528"/>
            <a:ext cx="5486400" cy="65836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274320" y="4224528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streamlit run app.py   →   localhost:8501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1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65760" y="3657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Conclusion &amp; Perspectives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65760" y="1005840"/>
            <a:ext cx="6400800" cy="36576"/>
          </a:xfrm>
          <a:prstGeom prst="rect">
            <a:avLst/>
          </a:prstGeom>
          <a:solidFill>
            <a:srgbClr val="2D7A2D"/>
          </a:solidFill>
          <a:ln cap="flat" cmpd="sng" w="12700">
            <a:solidFill>
              <a:srgbClr val="2D7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365760" y="1143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✅  Résultats obtenus 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48640" y="16002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▸  4 architectures comparées — EfficientNetB4 retenu comme modèle final (90.48%)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548640" y="20116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▸  VGG16 : 92.52% | EfficientNetB4 : 90.48% | ResNet50 : 56.46% | CNN : 29.93%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548640" y="242316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▸  Grad-CAM intégré pour justifier les décisions du modèle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48640" y="28346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▸  Export TFLite + Application Streamlit déployée (Bonus +2 pts)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65760" y="3337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🚀  Perspectives d'amélioration 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48640" y="379476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▸  Augmenter le dataset avec des images de fermes tunisiennes (variétés locales)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48640" y="41788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▸  Plus d'epochs pour EfficientNetB4 → dépasser VGG16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2743200" y="470916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Merci pour votre attention  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